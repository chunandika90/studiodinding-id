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Konsep B — e-sign.ai jadi engine di balik tool verifikasi dokumen internal PT PSG, bukan Dukcapil/PSrE. Cukup untuk approval internal, murah dan cepat dibangun.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fase: Setup Akun, Proses Dokumen, Verifikasi &amp; Distribusi — sama seperti Konsep B asli, tapi mesinnya sekarang e-sign.ai.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verifikasi adalah satu layanan bersama dipanggil dari sistem manapun — bukan dibangun ulang per sistem. Tiap program beda di data, penandatangan, dan aksi setelah lengkap.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Identitas diverifikasi memakai data internal HR — tidak perlu Dukcapil karena penggunaan terbatas di lingkungan PT PSG.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Kode/QR menunjuk ke server PT PSG sendiri, bukan Dukcapil/Kominfo.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tampilan modul HRD: penerimaan karyawan baru. 2 penandatangan tanpa jenjang nominal — HR Manager lalu kandidat. Tombol reminder ke kandidat kalau belum tanda tangan.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reminder dikirim, kandidat membuka link/QR di HP, melihat preview dokumen, dan menandatangani lewat kanvas tanda tangan. Ini yang muncul begitu kandidat menekan link reminder.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dokumen asli yang sudah ditandatangani kedua pihak — tiap tanda tangan diwakili kode QR unik miliknya sendiri, ditempel di badan dokumen seperti materai/stempel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tampilan modul Finance: permintaan uang berjenjang, jumlah penandatangan tergantung nominal. Direktur muncul karena nominal di atas Rp25 juta. Kode verifikasi baru terbit setelah tanda tangan terakhir.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dokumen permintaan dana yang sudah lengkap 4 tanda tangan berjenjang — tiap penandatangan punya QR unik sendiri, kode verifikasi baru aktif setelah tanda tangan terakhir (Direktur).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tampilan modul Purchasing: PO ke vendor, 2 penandatangan internal, lalu kirim ke vendor via WhatsApp. Vendor tidak perlu akun, cukup scan kode verifikasi.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PO yang sudah ditandatangani internal (Staff &amp; Manager Purchasing) — tiap orang punya QR unik, siap dikirim ke vendor via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 scan QR, data asli dari server, dibandingkan ke dokumen fisik. Selisih artinya dokumen dimanipulasi setelah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Dokumen dikirim via WhatsApp, vendor scan QR, lihat detail order tanpa perlu akun.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tersertifikasi, tapi cukup untuk internal. Murah, cepat dibangun, tidak perlu PSrE. Kekurangan: kekuatan hukum lebih lemah, server jadi satu-satunya titik kepercayaan.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9750" y="2721173"/>
            <a:ext cx="52878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F5F6F8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KONSEP B — TOOL INTERNAL PT PSG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24000" y="3297436"/>
            <a:ext cx="15697200" cy="217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451"/>
              </a:lnSpc>
              <a:buNone/>
            </a:pPr>
            <a:r>
              <a:rPr lang="en-US" sz="7800" b="1" spc="-156" kern="0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Integrasi e-sign.ai ke Alur Verifikasi Dokumen Internal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524000" y="5741789"/>
            <a:ext cx="1128236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83"/>
              </a:lnSpc>
              <a:buNone/>
            </a:pPr>
            <a:r>
              <a:rPr lang="en-US" sz="2250" dirty="0">
                <a:solidFill>
                  <a:srgbClr val="F5F6F8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e-sign.ai jadi </a:t>
            </a:r>
            <a:pPr algn="l" indent="0" marL="0">
              <a:lnSpc>
                <a:spcPct val="116883"/>
              </a:lnSpc>
              <a:buNone/>
            </a:pPr>
            <a:r>
              <a:rPr lang="en-US" sz="2250" i="1" dirty="0">
                <a:solidFill>
                  <a:srgbClr val="F5F6F8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 </a:t>
            </a:r>
            <a:pPr algn="l" indent="0" marL="0">
              <a:lnSpc>
                <a:spcPct val="116883"/>
              </a:lnSpc>
              <a:buNone/>
            </a:pPr>
            <a:r>
              <a:rPr lang="en-US" sz="2250" dirty="0">
                <a:solidFill>
                  <a:srgbClr val="F5F6F8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 balik satu layanan verifikasi bersama — dipanggil dari HRD, Finance, dan Purchasing, tanpa perlu sertifikasi PSrE/Dukcapil.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524000" y="7132439"/>
            <a:ext cx="708720" cy="433388"/>
          </a:xfrm>
          <a:prstGeom prst="roundRect">
            <a:avLst>
              <a:gd name="adj" fmla="val 50000"/>
            </a:avLst>
          </a:prstGeom>
          <a:ln w="9525">
            <a:solidFill>
              <a:srgbClr val="F5F6F8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24025" y="7237214"/>
            <a:ext cx="38487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6F8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66070" y="7132439"/>
            <a:ext cx="1120155" cy="433388"/>
          </a:xfrm>
          <a:prstGeom prst="roundRect">
            <a:avLst>
              <a:gd name="adj" fmla="val 50000"/>
            </a:avLst>
          </a:prstGeom>
          <a:ln w="9525">
            <a:solidFill>
              <a:srgbClr val="F5F6F8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6095" y="7237214"/>
            <a:ext cx="79630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6F8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19574" y="7132439"/>
            <a:ext cx="1428750" cy="433388"/>
          </a:xfrm>
          <a:prstGeom prst="roundRect">
            <a:avLst>
              <a:gd name="adj" fmla="val 50000"/>
            </a:avLst>
          </a:prstGeom>
          <a:ln w="9525">
            <a:solidFill>
              <a:srgbClr val="F5F6F8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9599" y="7237214"/>
            <a:ext cx="110490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6F8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Purchasing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1047750"/>
            <a:ext cx="169735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4AD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RINGKASAN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1471613"/>
            <a:ext cx="169735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Tiga fase dalam satu alur transaksi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428750" y="2671763"/>
            <a:ext cx="4978375" cy="5862638"/>
          </a:xfrm>
          <a:prstGeom prst="roundRect">
            <a:avLst>
              <a:gd name="adj" fmla="val 3827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81175" y="3062288"/>
            <a:ext cx="470087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D1D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81175" y="3562350"/>
            <a:ext cx="470087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Setup Akun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81175" y="4033837"/>
            <a:ext cx="44017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89"/>
              </a:lnSpc>
              <a:buNone/>
            </a:pPr>
            <a:r>
              <a:rPr lang="en-US" sz="1650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Register ID internal, daftar e-sign visual (langkah 1–2)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654775" y="2671763"/>
            <a:ext cx="4978450" cy="5862638"/>
          </a:xfrm>
          <a:prstGeom prst="roundRect">
            <a:avLst>
              <a:gd name="adj" fmla="val 3826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7200" y="3062288"/>
            <a:ext cx="470096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1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007200" y="3562350"/>
            <a:ext cx="47009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Proses Dokumen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007200" y="4033837"/>
            <a:ext cx="440180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89"/>
              </a:lnSpc>
              <a:buNone/>
            </a:pPr>
            <a:r>
              <a:rPr lang="en-US" sz="1650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Upload, assign tanda tangan, generate kode unik (langkah 3–6)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880875" y="2671763"/>
            <a:ext cx="4978375" cy="5862638"/>
          </a:xfrm>
          <a:prstGeom prst="roundRect">
            <a:avLst>
              <a:gd name="adj" fmla="val 3827"/>
            </a:avLst>
          </a:prstGeom>
          <a:ln w="9525">
            <a:solidFill>
              <a:srgbClr val="F5F6F8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33300" y="3062288"/>
            <a:ext cx="470087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6A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233300" y="3562350"/>
            <a:ext cx="470087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Verifikasi &amp; Distribusi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233300" y="4033837"/>
            <a:ext cx="44017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89"/>
              </a:lnSpc>
              <a:buNone/>
            </a:pPr>
            <a:r>
              <a:rPr lang="en-US" sz="1650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Cek internal, deteksi selisih, kirim ke vendor (langkah 7–9)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28750" y="8801100"/>
            <a:ext cx="16973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PT PSG — Internal Document Verification, didukung e-sign.ai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2790379"/>
            <a:ext cx="169735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00C9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PRINSIP UTAMA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3214241"/>
            <a:ext cx="15206662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0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Satu layanan verifikasi bersama, dipanggil dari sistem manapun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428750" y="4658171"/>
            <a:ext cx="1324451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18"/>
              </a:lnSpc>
              <a:buNone/>
            </a:pPr>
            <a:r>
              <a:rPr lang="en-US" sz="1950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 verifikasi (status tanda tangan + kode/QR unik) bukan aplikasi berdiri sendiri — ia nempel ke 3 program internal yang beda. Yang beda cuma: data yang ditampilkan, siapa yang tanda tangan, dan apa yang terjadi setelah semua lengkap.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428750" y="6229796"/>
            <a:ext cx="4991100" cy="1266825"/>
          </a:xfrm>
          <a:prstGeom prst="roundRect">
            <a:avLst>
              <a:gd name="adj" fmla="val 13534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43075" y="6544121"/>
            <a:ext cx="47986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FD08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HRD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43075" y="6934646"/>
            <a:ext cx="47986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Penerimaan karyawan baru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48450" y="6229796"/>
            <a:ext cx="4991100" cy="1266825"/>
          </a:xfrm>
          <a:prstGeom prst="roundRect">
            <a:avLst>
              <a:gd name="adj" fmla="val 13534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2775" y="6544121"/>
            <a:ext cx="47986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A0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962775" y="6934646"/>
            <a:ext cx="47986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Permintaan uang berjenjang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868150" y="6229796"/>
            <a:ext cx="4991100" cy="1266825"/>
          </a:xfrm>
          <a:prstGeom prst="roundRect">
            <a:avLst>
              <a:gd name="adj" fmla="val 13534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82475" y="6544121"/>
            <a:ext cx="47986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6A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Purchasing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182475" y="6934646"/>
            <a:ext cx="47986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Pengadaan barang ke vendor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952500"/>
            <a:ext cx="169735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4AD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LANGKAH 1–4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1376363"/>
            <a:ext cx="169735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Setup &amp; Upload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428750" y="2490788"/>
            <a:ext cx="3700463" cy="5405438"/>
          </a:xfrm>
          <a:prstGeom prst="roundRect">
            <a:avLst>
              <a:gd name="adj" fmla="val 4633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04975" y="2805113"/>
            <a:ext cx="34628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1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04975" y="3233738"/>
            <a:ext cx="346281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 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04975" y="3638550"/>
            <a:ext cx="34628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(data internal)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38763" y="2490788"/>
            <a:ext cx="3700463" cy="5405438"/>
          </a:xfrm>
          <a:prstGeom prst="roundRect">
            <a:avLst>
              <a:gd name="adj" fmla="val 4633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14988" y="2805113"/>
            <a:ext cx="34628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1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614988" y="3233738"/>
            <a:ext cx="346281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Daftar e-sign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14988" y="3638550"/>
            <a:ext cx="34628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(gaya visual)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48775" y="2490788"/>
            <a:ext cx="3700463" cy="5405438"/>
          </a:xfrm>
          <a:prstGeom prst="roundRect">
            <a:avLst>
              <a:gd name="adj" fmla="val 4633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0" y="2805113"/>
            <a:ext cx="34628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1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25000" y="3233738"/>
            <a:ext cx="346281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Upload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0" y="3638550"/>
            <a:ext cx="34628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dokumen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158788" y="2490788"/>
            <a:ext cx="3700463" cy="5405438"/>
          </a:xfrm>
          <a:prstGeom prst="roundRect">
            <a:avLst>
              <a:gd name="adj" fmla="val 4633"/>
            </a:avLst>
          </a:prstGeom>
          <a:ln w="9525">
            <a:solidFill>
              <a:srgbClr val="F5F6F8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35013" y="2805113"/>
            <a:ext cx="34628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8BE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435013" y="3233738"/>
            <a:ext cx="346281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Assign tanda tangan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435013" y="3638550"/>
            <a:ext cx="34628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 dokumen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428750" y="8124825"/>
            <a:ext cx="15430500" cy="1209675"/>
          </a:xfrm>
          <a:prstGeom prst="roundRect">
            <a:avLst>
              <a:gd name="adj" fmla="val 12598"/>
            </a:avLst>
          </a:prstGeom>
          <a:solidFill>
            <a:srgbClr val="F5F6F8">
              <a:alpha val="4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62125" y="8401050"/>
            <a:ext cx="1522666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F5F6F8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Identitas diverifikasi memakai data internal (HR/employee data) — tidak memerlukan verifikasi Dukcapil karena penggunaannya terbatas di lingkungan PT PSG sendiri.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952500"/>
            <a:ext cx="169735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4AD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LANGKAH 5–6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1376363"/>
            <a:ext cx="169735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Kode Verifikasi &amp; Distribusi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428750" y="2528888"/>
            <a:ext cx="4484563" cy="5434013"/>
          </a:xfrm>
          <a:prstGeom prst="roundRect">
            <a:avLst>
              <a:gd name="adj" fmla="val 4248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19275" y="2919413"/>
            <a:ext cx="40738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1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19275" y="3390900"/>
            <a:ext cx="40738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 QR/kode unik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160963" y="2528888"/>
            <a:ext cx="4484638" cy="5434013"/>
          </a:xfrm>
          <a:prstGeom prst="roundRect">
            <a:avLst>
              <a:gd name="adj" fmla="val 4248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488" y="2919413"/>
            <a:ext cx="407394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1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51488" y="3390900"/>
            <a:ext cx="407394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Distribusi dokumen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893251" y="2528888"/>
            <a:ext cx="5965999" cy="5434013"/>
          </a:xfrm>
          <a:prstGeom prst="roundRect">
            <a:avLst>
              <a:gd name="adj" fmla="val 3506"/>
            </a:avLst>
          </a:prstGeom>
          <a:ln w="9525">
            <a:solidFill>
              <a:srgbClr val="F5F6F8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83776" y="4537323"/>
            <a:ext cx="5340497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Kode/QR ini tidak menunjuk ke Dukcapil atau Kominfo, melainkan ke </a:t>
            </a:r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 milik PT PSG sendiri 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tempat data asli dokumen (nominal, detail, penandatangan) tersimpan.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28750" y="8191500"/>
            <a:ext cx="15430500" cy="1143000"/>
          </a:xfrm>
          <a:prstGeom prst="roundRect">
            <a:avLst>
              <a:gd name="adj" fmla="val 13333"/>
            </a:avLst>
          </a:prstGeom>
          <a:solidFill>
            <a:srgbClr val="F5F6F8">
              <a:alpha val="4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62125" y="8448675"/>
            <a:ext cx="1522666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89"/>
              </a:lnSpc>
              <a:buNone/>
            </a:pPr>
            <a:r>
              <a:rPr lang="en-US" sz="1650" dirty="0">
                <a:solidFill>
                  <a:srgbClr val="F5F6F8">
                    <a:alpha val="65000"/>
                  </a:srgbClr>
                </a:solidFill>
                <a:highlight>
                  <a:srgbClr val="FFFFFF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Setiap tanda tangan direpresentasikan sebagai </a:t>
            </a:r>
            <a:pPr algn="l" indent="0" marL="0">
              <a:lnSpc>
                <a:spcPct val="115789"/>
              </a:lnSpc>
              <a:buNone/>
            </a:pPr>
            <a:r>
              <a:rPr lang="en-US" sz="1650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kode QR</a:t>
            </a:r>
            <a:pPr algn="l" indent="0" marL="0">
              <a:lnSpc>
                <a:spcPct val="115789"/>
              </a:lnSpc>
              <a:buNone/>
            </a:pPr>
            <a:r>
              <a:rPr lang="en-US" sz="1650" dirty="0">
                <a:solidFill>
                  <a:srgbClr val="F5F6F8">
                    <a:alpha val="65000"/>
                  </a:srgbClr>
                </a:solidFill>
                <a:highlight>
                  <a:srgbClr val="FFFFFF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Saat di-scan, QR membuka domain web internal (mis. </a:t>
            </a:r>
            <a:pPr algn="l" indent="0" marL="0">
              <a:lnSpc>
                <a:spcPct val="115789"/>
              </a:lnSpc>
              <a:buNone/>
            </a:pPr>
            <a:r>
              <a:rPr lang="en-US" sz="1650" dirty="0">
                <a:solidFill>
                  <a:srgbClr val="00D1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verify.internal.ptpsg.co.id </a:t>
            </a:r>
            <a:pPr algn="l" indent="0" marL="0">
              <a:lnSpc>
                <a:spcPct val="115789"/>
              </a:lnSpc>
              <a:buNone/>
            </a:pPr>
            <a:r>
              <a:rPr lang="en-US" sz="1650" dirty="0">
                <a:solidFill>
                  <a:srgbClr val="F5F6F8">
                    <a:alpha val="65000"/>
                  </a:srgbClr>
                </a:solidFill>
                <a:highlight>
                  <a:srgbClr val="FFFFFF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yang menampilkan dokumen asli/softcopy — bukan cuma metadata.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367534"/>
            <a:ext cx="75925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 UI · 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28750" y="3691384"/>
            <a:ext cx="476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28750" y="4072384"/>
            <a:ext cx="7592504" cy="54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61"/>
              </a:lnSpc>
              <a:buNone/>
            </a:pPr>
            <a:r>
              <a:rPr lang="en-US" sz="34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Penerimaan Karyawan Baru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428750" y="4766742"/>
            <a:ext cx="510159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Perjanjian kerja karyawan baru — 2 penandatangan tanpa jenjang nominal: HR Manager lalu kandidat.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28750" y="6062142"/>
            <a:ext cx="6902276" cy="857250"/>
          </a:xfrm>
          <a:prstGeom prst="roundRect">
            <a:avLst>
              <a:gd name="adj" fmla="val 15556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7825" y="6243117"/>
            <a:ext cx="66711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Aksi khusus: tombol “Kirim reminder ke kandidat” kalau masih ada yang belum tanda tangan.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02526" y="2326481"/>
            <a:ext cx="7956724" cy="5634038"/>
          </a:xfrm>
          <a:prstGeom prst="roundRect">
            <a:avLst>
              <a:gd name="adj" fmla="val 3719"/>
            </a:avLst>
          </a:prstGeom>
          <a:gradFill rotWithShape="1">
            <a:gsLst>
              <a:gs pos="0">
                <a:srgbClr val="F5F6F8">
                  <a:alpha val="6000"/>
                </a:srgbClr>
              </a:gs>
              <a:gs pos="100000">
                <a:srgbClr val="F5F6F8">
                  <a:alpha val="2000"/>
                </a:srgbClr>
              </a:gs>
            </a:gsLst>
            <a:lin ang="4500000" scaled="0"/>
          </a:gradFill>
          <a:ln w="9525">
            <a:solidFill>
              <a:srgbClr val="F5F6F8">
                <a:alpha val="14000"/>
              </a:srgbClr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12051" y="3064669"/>
            <a:ext cx="7937674" cy="9525"/>
          </a:xfrm>
          <a:prstGeom prst="rect">
            <a:avLst/>
          </a:prstGeom>
          <a:solidFill>
            <a:srgbClr val="F5F6F8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97801" y="2600325"/>
            <a:ext cx="2615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Surat_Perjanjian_Kerja.pdf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600015" y="2545556"/>
            <a:ext cx="963960" cy="309563"/>
          </a:xfrm>
          <a:prstGeom prst="roundRect">
            <a:avLst>
              <a:gd name="adj" fmla="val 50000"/>
            </a:avLst>
          </a:prstGeom>
          <a:solidFill>
            <a:srgbClr val="D3A600">
              <a:alpha val="18000"/>
            </a:srgbClr>
          </a:solidFill>
          <a:ln w="9525">
            <a:solidFill>
              <a:srgbClr val="D4A80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61940" y="2612231"/>
            <a:ext cx="7163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3B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Menunggu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216851" y="3378994"/>
            <a:ext cx="394658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4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Kandidat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16851" y="3593306"/>
            <a:ext cx="394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Dewi Anggraini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57051" y="3378994"/>
            <a:ext cx="394666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4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Posisi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957051" y="3593306"/>
            <a:ext cx="39466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Staff Marketing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16851" y="3993356"/>
            <a:ext cx="394658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4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Departemen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16851" y="4207669"/>
            <a:ext cx="394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216851" y="4664869"/>
            <a:ext cx="7328074" cy="695325"/>
          </a:xfrm>
          <a:prstGeom prst="roundRect">
            <a:avLst>
              <a:gd name="adj" fmla="val 16438"/>
            </a:avLst>
          </a:prstGeom>
          <a:solidFill>
            <a:srgbClr val="00893B">
              <a:alpha val="10000"/>
            </a:srgbClr>
          </a:solidFill>
          <a:ln w="9525">
            <a:solidFill>
              <a:srgbClr val="149849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97826" y="4841081"/>
            <a:ext cx="342900" cy="342900"/>
          </a:xfrm>
          <a:prstGeom prst="ellipse">
            <a:avLst/>
          </a:prstGeom>
          <a:solidFill>
            <a:srgbClr val="319751"/>
          </a:solidFill>
          <a:ln/>
        </p:spPr>
      </p:sp>
      <p:sp>
        <p:nvSpPr>
          <p:cNvPr id="21" name="Text 19"/>
          <p:cNvSpPr/>
          <p:nvPr/>
        </p:nvSpPr>
        <p:spPr>
          <a:xfrm>
            <a:off x="9359726" y="4841081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B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RS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855026" y="4826794"/>
            <a:ext cx="10026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Rina Saputri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9855026" y="5036344"/>
            <a:ext cx="10026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 Manager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4763452" y="4924425"/>
            <a:ext cx="176054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Sudah tanda tangan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16851" y="5455444"/>
            <a:ext cx="7328074" cy="695325"/>
          </a:xfrm>
          <a:prstGeom prst="roundRect">
            <a:avLst>
              <a:gd name="adj" fmla="val 16438"/>
            </a:avLst>
          </a:prstGeom>
          <a:solidFill>
            <a:srgbClr val="D6A500">
              <a:alpha val="12000"/>
            </a:srgbClr>
          </a:solidFill>
          <a:ln w="9525">
            <a:solidFill>
              <a:srgbClr val="D7A900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97826" y="5631656"/>
            <a:ext cx="342900" cy="342900"/>
          </a:xfrm>
          <a:prstGeom prst="ellipse">
            <a:avLst/>
          </a:prstGeom>
          <a:solidFill>
            <a:srgbClr val="C09910"/>
          </a:solidFill>
          <a:ln/>
        </p:spPr>
      </p:sp>
      <p:sp>
        <p:nvSpPr>
          <p:cNvPr id="27" name="Text 25"/>
          <p:cNvSpPr/>
          <p:nvPr/>
        </p:nvSpPr>
        <p:spPr>
          <a:xfrm>
            <a:off x="9359726" y="5631656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B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855026" y="5617369"/>
            <a:ext cx="12109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Dewi Anggraini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855026" y="5826919"/>
            <a:ext cx="12109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Kandidat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5510495" y="5712619"/>
            <a:ext cx="9296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3B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⌛ Menunggu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388301" y="6474619"/>
            <a:ext cx="20074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D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Kirim reminder ke kandidat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16851" y="6998494"/>
            <a:ext cx="7328074" cy="647700"/>
          </a:xfrm>
          <a:prstGeom prst="roundRect">
            <a:avLst>
              <a:gd name="adj" fmla="val 17647"/>
            </a:avLst>
          </a:prstGeom>
          <a:solidFill>
            <a:srgbClr val="F5F6F8">
              <a:alpha val="3000"/>
            </a:srgbClr>
          </a:solidFill>
          <a:ln w="9525">
            <a:solidFill>
              <a:srgbClr val="F5F6F8">
                <a:alpha val="15000"/>
              </a:srgbClr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9416876" y="7160419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5F6F8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378776" y="7160419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▦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855026" y="7229475"/>
            <a:ext cx="101121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Kode verifikasi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5316200" y="7229475"/>
            <a:ext cx="11049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belum terbit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319909"/>
            <a:ext cx="93200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 UI · 01 — Lanjutan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28750" y="3643759"/>
            <a:ext cx="476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28750" y="4024759"/>
            <a:ext cx="9320064" cy="54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61"/>
              </a:lnSpc>
              <a:buNone/>
            </a:pPr>
            <a:r>
              <a:rPr lang="en-US" sz="34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Layar Tanda Tangan Kandidat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428750" y="4719117"/>
            <a:ext cx="510159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Kandidat membuka link dari reminder, melihat pratinjau dokumen, lalu menandatangani langsung di layar — hasilnya diproses jadi kode QR unik.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28750" y="6357417"/>
            <a:ext cx="8472785" cy="609600"/>
          </a:xfrm>
          <a:prstGeom prst="roundRect">
            <a:avLst>
              <a:gd name="adj" fmla="val 21875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7825" y="6538392"/>
            <a:ext cx="82888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Tidak perlu install aplikasi — cukup buka link di browser HP, tidak perlu akun terpisah.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473035" y="2663279"/>
            <a:ext cx="6386215" cy="4960441"/>
          </a:xfrm>
          <a:prstGeom prst="roundRect">
            <a:avLst>
              <a:gd name="adj" fmla="val 6913"/>
            </a:avLst>
          </a:prstGeom>
          <a:gradFill rotWithShape="1">
            <a:gsLst>
              <a:gs pos="0">
                <a:srgbClr val="F5F6F8">
                  <a:alpha val="7000"/>
                </a:srgbClr>
              </a:gs>
              <a:gs pos="100000">
                <a:srgbClr val="F5F6F8">
                  <a:alpha val="2000"/>
                </a:srgbClr>
              </a:gs>
            </a:gsLst>
            <a:lin ang="4500000" scaled="0"/>
          </a:gradFill>
          <a:ln w="9525">
            <a:solidFill>
              <a:srgbClr val="F5F6F8">
                <a:alpha val="16000"/>
              </a:srgbClr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15910" y="2806154"/>
            <a:ext cx="6100465" cy="4674691"/>
          </a:xfrm>
          <a:prstGeom prst="roundRect">
            <a:avLst>
              <a:gd name="adj" fmla="val 4890"/>
            </a:avLst>
          </a:prstGeom>
          <a:solidFill>
            <a:srgbClr val="0B0D12"/>
          </a:solidFill>
          <a:ln/>
        </p:spPr>
      </p:sp>
      <p:sp>
        <p:nvSpPr>
          <p:cNvPr id="10" name="Shape 8"/>
          <p:cNvSpPr/>
          <p:nvPr/>
        </p:nvSpPr>
        <p:spPr>
          <a:xfrm>
            <a:off x="10615910" y="3272879"/>
            <a:ext cx="6100465" cy="9525"/>
          </a:xfrm>
          <a:prstGeom prst="rect">
            <a:avLst/>
          </a:prstGeom>
          <a:solidFill>
            <a:srgbClr val="F5F6F8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714903" y="2958554"/>
            <a:ext cx="59024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verify.internal.ptpsg.co.id/sign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863560" y="3530054"/>
            <a:ext cx="616568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Surat_Perjanjian_Kerja.pdf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863560" y="3858667"/>
            <a:ext cx="5605165" cy="955179"/>
          </a:xfrm>
          <a:prstGeom prst="roundRect">
            <a:avLst>
              <a:gd name="adj" fmla="val 11966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25485" y="4020592"/>
            <a:ext cx="5449470" cy="669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F5F6F8">
                    <a:alpha val="55000"/>
                  </a:srgbClr>
                </a:solidFill>
                <a:highlight>
                  <a:srgbClr val="FFFFFF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Pasal 1 — Posisi &amp; Jabatan Pasal 2 — Masa Percobaan Pasal 3 — Kompensasi &amp; Tunjangan...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0583302" y="4966246"/>
            <a:ext cx="61656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5F6F8">
                    <a:alpha val="4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Tarik jari di area bawah untuk tanda tangan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0863560" y="5280571"/>
            <a:ext cx="5605165" cy="1333500"/>
          </a:xfrm>
          <a:prstGeom prst="roundRect">
            <a:avLst>
              <a:gd name="adj" fmla="val 10000"/>
            </a:avLst>
          </a:prstGeom>
          <a:solidFill>
            <a:srgbClr val="F5F6F8">
              <a:alpha val="4000"/>
            </a:srgbClr>
          </a:solidFill>
          <a:ln w="9525">
            <a:solidFill>
              <a:srgbClr val="F5F6F8">
                <a:alpha val="25000"/>
              </a:srgbClr>
            </a:solidFill>
            <a:prstDash val="dash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3085" y="5290096"/>
            <a:ext cx="5586115" cy="13144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12833" y="6899821"/>
            <a:ext cx="55066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D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Konfirmasi Tanda Tangan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8391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 UI · 01 — Hasil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33500" y="1085850"/>
            <a:ext cx="476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33500" y="1466850"/>
            <a:ext cx="8391577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58"/>
              </a:lnSpc>
              <a:buNone/>
            </a:pPr>
            <a:r>
              <a:rPr lang="en-US" sz="33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Dokumen Asli, Tertandatangani Penuh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4725650" y="762000"/>
            <a:ext cx="2228850" cy="409575"/>
          </a:xfrm>
          <a:prstGeom prst="roundRect">
            <a:avLst>
              <a:gd name="adj" fmla="val 50000"/>
            </a:avLst>
          </a:prstGeom>
          <a:solidFill>
            <a:srgbClr val="4EB769">
              <a:alpha val="18000"/>
            </a:srgbClr>
          </a:solidFill>
          <a:ln w="9525">
            <a:solidFill>
              <a:srgbClr val="4BB96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25675" y="866775"/>
            <a:ext cx="1905000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Selesai · kode aktif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082105"/>
            <a:ext cx="1275397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Tiap penandatangan punya kode QR unik miliknya sendiri, ditempel langsung di dokumen — bukan satu QR generik untuk seluruh dokumen.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333500" y="2853630"/>
            <a:ext cx="9120783" cy="6671370"/>
          </a:xfrm>
          <a:prstGeom prst="roundRect">
            <a:avLst>
              <a:gd name="adj" fmla="val 1999"/>
            </a:avLst>
          </a:prstGeom>
          <a:solidFill>
            <a:srgbClr val="F2F1EE"/>
          </a:solidFill>
          <a:ln/>
          <a:effectLst>
            <a:outerShdw sx="100000" sy="100000" kx="0" ky="0" algn="bl" rotWithShape="0" blurRad="762000" dist="285750" dir="54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4201" y="3310830"/>
            <a:ext cx="88593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33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SURAT PERJANJIAN KERJA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64201" y="3615630"/>
            <a:ext cx="885938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No. HRD/2026/0731 — PT PSG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66900" y="3982343"/>
            <a:ext cx="8295602" cy="187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71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Pasal 1 — Para Pihak. Perjanjian ini dibuat antara PT PSG (“Perusahaan”) dan Dewi Anggraini (“Karyawan”) untuk posisi Staff Marketing, Departemen Marketing. Pasal 2 — Masa Percobaan. Karyawan menjalani masa percobaan selama 3 (tiga) bulan sejak tanggal mulai kerja. Pasal 3 — Kompensasi. Perusahaan memberikan gaji pokok serta tunjangan sesuai kebijakan internal yang berlaku, dibayarkan setiap tanggal 25. Pasal 4 — Kerahasiaan. Karyawan wajib menjaga kerahasiaan data &amp; informasi internal Perusahaan selama dan setelah masa kerja berakhir.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1866900" y="7277100"/>
            <a:ext cx="8053983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72904" y="7477125"/>
            <a:ext cx="7768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Disetujui oleh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0821" y="7705725"/>
            <a:ext cx="7048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7496" y="7772400"/>
            <a:ext cx="571500" cy="5715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430637" y="8486775"/>
            <a:ext cx="86141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Rina Saputri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536677" y="8734425"/>
            <a:ext cx="64926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 Manager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3108871" y="8948738"/>
            <a:ext cx="157162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HRD-7731-RS · 12 Jul 2026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14196" y="7477125"/>
            <a:ext cx="7768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Disetujui oleh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612112" y="7705725"/>
            <a:ext cx="7048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8787" y="7772400"/>
            <a:ext cx="571500" cy="5715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87617" y="8486775"/>
            <a:ext cx="10299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Dewi Anggraini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754094" y="8734425"/>
            <a:ext cx="49701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Kandidat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7250162" y="8948738"/>
            <a:ext cx="157162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HRD-7731-DA · 14 Jul 2026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10759083" y="2853630"/>
            <a:ext cx="6195417" cy="1328738"/>
          </a:xfrm>
          <a:prstGeom prst="roundRect">
            <a:avLst>
              <a:gd name="adj" fmla="val 11470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016258" y="3091755"/>
            <a:ext cx="624917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Kenapa QR per orang?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1016258" y="3429893"/>
            <a:ext cx="585149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1350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Tiap QR menyimpan kode unik + timestamp tanda tangan masing-masing — jadi jelas siapa tanda tangan kapan, dan bisa diverifikasi satu-satu.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10759083" y="4334768"/>
            <a:ext cx="6195417" cy="1262063"/>
          </a:xfrm>
          <a:prstGeom prst="roundRect">
            <a:avLst>
              <a:gd name="adj" fmla="val 12075"/>
            </a:avLst>
          </a:prstGeom>
          <a:ln w="9525">
            <a:solidFill>
              <a:srgbClr val="F5F6F8">
                <a:alpha val="12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016258" y="4572893"/>
            <a:ext cx="62491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0D1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SAAT DI-SCAN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11016258" y="4844355"/>
            <a:ext cx="585149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1350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Membuka </a:t>
            </a:r>
            <a:pPr algn="l" indent="0" marL="0">
              <a:lnSpc>
                <a:spcPct val="114894"/>
              </a:lnSpc>
              <a:buNone/>
            </a:pPr>
            <a:r>
              <a:rPr lang="en-US" sz="1350" dirty="0">
                <a:solidFill>
                  <a:srgbClr val="F5F6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verify.internal.ptpsg.co.id </a:t>
            </a:r>
            <a:pPr algn="l" indent="0" marL="0">
              <a:lnSpc>
                <a:spcPct val="114894"/>
              </a:lnSpc>
              <a:buNone/>
            </a:pPr>
            <a:r>
              <a:rPr lang="en-US" sz="1350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 menampilkan dokumen ini apa adanya — softcopy asli, bukan cuma metadata status.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10759083" y="5749230"/>
            <a:ext cx="6195417" cy="1038225"/>
          </a:xfrm>
          <a:prstGeom prst="roundRect">
            <a:avLst>
              <a:gd name="adj" fmla="val 14679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016258" y="5987355"/>
            <a:ext cx="624917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Kode dokumen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11016258" y="6325493"/>
            <a:ext cx="624917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6F8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HRD-7731-DA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6974" y="3367534"/>
            <a:ext cx="75925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 UI ·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56974" y="3691384"/>
            <a:ext cx="1009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F8A0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56974" y="4072384"/>
            <a:ext cx="7592504" cy="54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61"/>
              </a:lnSpc>
              <a:buNone/>
            </a:pPr>
            <a:r>
              <a:rPr lang="en-US" sz="34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Permintaan Uang, Berjenjang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9956974" y="4766742"/>
            <a:ext cx="510159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Persetujuan eskalasi otomatis berdasar nominal — Direktur cuma muncul kalau di atas Rp25 juta.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56974" y="6062142"/>
            <a:ext cx="6902276" cy="857250"/>
          </a:xfrm>
          <a:prstGeom prst="roundRect">
            <a:avLst>
              <a:gd name="adj" fmla="val 15556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76049" y="6243117"/>
            <a:ext cx="66711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Logika penting: kode verifikasi baru terbit setelah tanda tangan terakhir, bukan sebelumnya.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28750" y="2507456"/>
            <a:ext cx="7956724" cy="5272088"/>
          </a:xfrm>
          <a:prstGeom prst="roundRect">
            <a:avLst>
              <a:gd name="adj" fmla="val 3975"/>
            </a:avLst>
          </a:prstGeom>
          <a:gradFill rotWithShape="1">
            <a:gsLst>
              <a:gs pos="0">
                <a:srgbClr val="F5F6F8">
                  <a:alpha val="6000"/>
                </a:srgbClr>
              </a:gs>
              <a:gs pos="100000">
                <a:srgbClr val="F5F6F8">
                  <a:alpha val="2000"/>
                </a:srgbClr>
              </a:gs>
            </a:gsLst>
            <a:lin ang="4500000" scaled="0"/>
          </a:gradFill>
          <a:ln w="9525">
            <a:solidFill>
              <a:srgbClr val="F5F6F8">
                <a:alpha val="14000"/>
              </a:srgbClr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38275" y="3245644"/>
            <a:ext cx="7937674" cy="9525"/>
          </a:xfrm>
          <a:prstGeom prst="rect">
            <a:avLst/>
          </a:prstGeom>
          <a:solidFill>
            <a:srgbClr val="F5F6F8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24025" y="2781300"/>
            <a:ext cx="22128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Permintaan_Dana_Q3.pdf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6239" y="2726531"/>
            <a:ext cx="963960" cy="309563"/>
          </a:xfrm>
          <a:prstGeom prst="roundRect">
            <a:avLst>
              <a:gd name="adj" fmla="val 50000"/>
            </a:avLst>
          </a:prstGeom>
          <a:solidFill>
            <a:srgbClr val="D3A600">
              <a:alpha val="18000"/>
            </a:srgbClr>
          </a:solidFill>
          <a:ln w="9525">
            <a:solidFill>
              <a:srgbClr val="D4A80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8164" y="2793206"/>
            <a:ext cx="7163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3B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Menunggu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43075" y="3559969"/>
            <a:ext cx="25751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4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Pemohon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43075" y="3774281"/>
            <a:ext cx="25751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Budi Santoso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4236541" y="3559969"/>
            <a:ext cx="25751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4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Nominal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36541" y="3774281"/>
            <a:ext cx="25751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3B83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Rp 45.000.000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6730008" y="3559969"/>
            <a:ext cx="257525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4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Keperluan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30008" y="3774281"/>
            <a:ext cx="257525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Sewa venue Q3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743075" y="4198144"/>
            <a:ext cx="7328074" cy="57150"/>
          </a:xfrm>
          <a:prstGeom prst="roundRect">
            <a:avLst>
              <a:gd name="adj" fmla="val 50000"/>
            </a:avLst>
          </a:prstGeom>
          <a:solidFill>
            <a:srgbClr val="F5F6F8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743075" y="4445794"/>
            <a:ext cx="806088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dari 4 tanda tangan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743075" y="4812506"/>
            <a:ext cx="7328074" cy="452438"/>
          </a:xfrm>
          <a:prstGeom prst="roundRect">
            <a:avLst>
              <a:gd name="adj" fmla="val 23158"/>
            </a:avLst>
          </a:prstGeom>
          <a:solidFill>
            <a:srgbClr val="00893B">
              <a:alpha val="10000"/>
            </a:srgbClr>
          </a:solidFill>
          <a:ln w="9525">
            <a:solidFill>
              <a:srgbClr val="149849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05000" y="4945856"/>
            <a:ext cx="17266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Budi Santoso · </a:t>
            </a:r>
            <a:pPr algn="l" indent="0" marL="0">
              <a:buNone/>
            </a:pPr>
            <a:r>
              <a:rPr lang="en-US" sz="112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Pemohon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240241" y="4957763"/>
            <a:ext cx="7451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Selesai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1743075" y="5350669"/>
            <a:ext cx="7328074" cy="452438"/>
          </a:xfrm>
          <a:prstGeom prst="roundRect">
            <a:avLst>
              <a:gd name="adj" fmla="val 23158"/>
            </a:avLst>
          </a:prstGeom>
          <a:solidFill>
            <a:srgbClr val="00893B">
              <a:alpha val="10000"/>
            </a:srgbClr>
          </a:solidFill>
          <a:ln w="9525">
            <a:solidFill>
              <a:srgbClr val="149849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05000" y="5484019"/>
            <a:ext cx="18543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Sri Handayani · </a:t>
            </a:r>
            <a:pPr algn="l" indent="0" marL="0">
              <a:buNone/>
            </a:pPr>
            <a:r>
              <a:rPr lang="en-US" sz="112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Supervisor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8240241" y="5495925"/>
            <a:ext cx="7451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Selesai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1743075" y="5888831"/>
            <a:ext cx="7328074" cy="452438"/>
          </a:xfrm>
          <a:prstGeom prst="roundRect">
            <a:avLst>
              <a:gd name="adj" fmla="val 23158"/>
            </a:avLst>
          </a:prstGeom>
          <a:solidFill>
            <a:srgbClr val="D6A500">
              <a:alpha val="12000"/>
            </a:srgbClr>
          </a:solidFill>
          <a:ln w="9525">
            <a:solidFill>
              <a:srgbClr val="D7A900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05000" y="6022181"/>
            <a:ext cx="22481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Anton Wijaya · </a:t>
            </a:r>
            <a:pPr algn="l" indent="0" marL="0">
              <a:buNone/>
            </a:pPr>
            <a:r>
              <a:rPr lang="en-US" sz="112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Finance Manager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8116714" y="6031706"/>
            <a:ext cx="8687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3B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⌛ Menunggu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1743075" y="6426994"/>
            <a:ext cx="7328074" cy="452438"/>
          </a:xfrm>
          <a:prstGeom prst="roundRect">
            <a:avLst>
              <a:gd name="adj" fmla="val 23158"/>
            </a:avLst>
          </a:prstGeom>
          <a:solidFill>
            <a:srgbClr val="F5F6F8">
              <a:alpha val="3000"/>
            </a:srgbClr>
          </a:solidFill>
          <a:ln w="9525">
            <a:solidFill>
              <a:srgbClr val="F5F6F8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05000" y="6560344"/>
            <a:ext cx="16757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Direktur · </a:t>
            </a:r>
            <a:pPr algn="l" indent="0" marL="0">
              <a:buNone/>
            </a:pPr>
            <a:r>
              <a:rPr lang="en-US" sz="1125" dirty="0">
                <a:solidFill>
                  <a:srgbClr val="F5F6F8">
                    <a:alpha val="3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 atas Rp25jt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7720459" y="6572250"/>
            <a:ext cx="12649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Menunggu giliran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895475" y="7174706"/>
            <a:ext cx="158479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B0D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Ingatkan Anton Wijaya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666750"/>
            <a:ext cx="90564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 UI · 02 — Hasil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33500" y="990600"/>
            <a:ext cx="1009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F8A0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33500" y="1352550"/>
            <a:ext cx="905640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96"/>
              </a:lnSpc>
              <a:buNone/>
            </a:pPr>
            <a:r>
              <a:rPr lang="en-US" sz="30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Persetujuan Berjenjang Lengkap, Kode Terbit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725650" y="666750"/>
            <a:ext cx="2228850" cy="409575"/>
          </a:xfrm>
          <a:prstGeom prst="roundRect">
            <a:avLst>
              <a:gd name="adj" fmla="val 50000"/>
            </a:avLst>
          </a:prstGeom>
          <a:solidFill>
            <a:srgbClr val="4EB769">
              <a:alpha val="18000"/>
            </a:srgbClr>
          </a:solidFill>
          <a:ln w="9525">
            <a:solidFill>
              <a:srgbClr val="4BB96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25675" y="771525"/>
            <a:ext cx="1905000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Selesai · kode aktif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1905000"/>
            <a:ext cx="13620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tanda tangan berjenjang (termasuk Direktur karena di atas Rp25 juta) — kode QR baru terbit setelah tanda tangan terakhir.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33500" y="2343150"/>
            <a:ext cx="9042946" cy="7277100"/>
          </a:xfrm>
          <a:prstGeom prst="roundRect">
            <a:avLst>
              <a:gd name="adj" fmla="val 1832"/>
            </a:avLst>
          </a:prstGeom>
          <a:solidFill>
            <a:srgbClr val="F2F1EE"/>
          </a:solidFill>
          <a:ln/>
          <a:effectLst>
            <a:outerShdw sx="100000" sy="100000" kx="0" ky="0" algn="bl" rotWithShape="0" blurRad="762000" dist="285750" dir="54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42363" y="2686050"/>
            <a:ext cx="90252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29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FORMULIR PERMINTAAN DANA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342363" y="2933700"/>
            <a:ext cx="90252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No. FIN/2026/0912 — PT PSG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52600" y="3629025"/>
            <a:ext cx="8204746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752600" y="3219450"/>
            <a:ext cx="293852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Pemohon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752600" y="3357563"/>
            <a:ext cx="293852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Budi Santoso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519240" y="3219450"/>
            <a:ext cx="293852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Nominal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519240" y="3357563"/>
            <a:ext cx="293852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Rp 45.000.000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285881" y="3219450"/>
            <a:ext cx="293852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Keperluan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285881" y="3357563"/>
            <a:ext cx="293852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Sewa venue Q3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752600" y="3771900"/>
            <a:ext cx="8450888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Dana disetujui untuk keperluan sewa venue acara Q3 sesuai anggaran departemen Marketing yang telah dialokasikan. Pencairan dilakukan setelah seluruh jenjang persetujuan lengkap.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52600" y="4312890"/>
            <a:ext cx="8204746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752600" y="4455765"/>
            <a:ext cx="446022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Ambang persetujuan Direktur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752600" y="4593878"/>
            <a:ext cx="446022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 atas Rp 25.000.000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902598" y="4455765"/>
            <a:ext cx="446022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Metode pencairan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902598" y="4593878"/>
            <a:ext cx="446022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Transfer bank — H+1 setelah kode aktif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1752600" y="8224837"/>
            <a:ext cx="8204746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61468" y="8386763"/>
            <a:ext cx="5334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09093" y="8434388"/>
            <a:ext cx="438150" cy="43815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392338" y="8977313"/>
            <a:ext cx="7478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Budi Santoso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2545333" y="9167813"/>
            <a:ext cx="441796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Pemohon</a:t>
            </a:r>
            <a:endParaRPr lang="en-US" sz="675" dirty="0"/>
          </a:p>
        </p:txBody>
      </p:sp>
      <p:sp>
        <p:nvSpPr>
          <p:cNvPr id="29" name="Shape 26"/>
          <p:cNvSpPr/>
          <p:nvPr/>
        </p:nvSpPr>
        <p:spPr>
          <a:xfrm>
            <a:off x="4545955" y="8386763"/>
            <a:ext cx="5334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3580" y="8434388"/>
            <a:ext cx="438150" cy="43815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465067" y="8977313"/>
            <a:ext cx="77137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Sri Handayani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4606454" y="9167813"/>
            <a:ext cx="48867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Supervisor</a:t>
            </a:r>
            <a:endParaRPr lang="en-US" sz="675" dirty="0"/>
          </a:p>
        </p:txBody>
      </p:sp>
      <p:sp>
        <p:nvSpPr>
          <p:cNvPr id="33" name="Shape 29"/>
          <p:cNvSpPr/>
          <p:nvPr/>
        </p:nvSpPr>
        <p:spPr>
          <a:xfrm>
            <a:off x="6630516" y="8386763"/>
            <a:ext cx="5334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8141" y="8434388"/>
            <a:ext cx="438150" cy="43815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565999" y="8977313"/>
            <a:ext cx="7386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Anton Wijaya</a:t>
            </a:r>
            <a:endParaRPr lang="en-US" sz="825" dirty="0"/>
          </a:p>
        </p:txBody>
      </p:sp>
      <p:sp>
        <p:nvSpPr>
          <p:cNvPr id="36" name="Text 31"/>
          <p:cNvSpPr/>
          <p:nvPr/>
        </p:nvSpPr>
        <p:spPr>
          <a:xfrm>
            <a:off x="6569422" y="9167813"/>
            <a:ext cx="731788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Finance Manager</a:t>
            </a:r>
            <a:endParaRPr lang="en-US" sz="675" dirty="0"/>
          </a:p>
        </p:txBody>
      </p:sp>
      <p:sp>
        <p:nvSpPr>
          <p:cNvPr id="37" name="Shape 32"/>
          <p:cNvSpPr/>
          <p:nvPr/>
        </p:nvSpPr>
        <p:spPr>
          <a:xfrm>
            <a:off x="8715003" y="8386763"/>
            <a:ext cx="5334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62628" y="8434388"/>
            <a:ext cx="438150" cy="4381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777362" y="8977313"/>
            <a:ext cx="4849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Direktur</a:t>
            </a:r>
            <a:endParaRPr lang="en-US" sz="825" dirty="0"/>
          </a:p>
        </p:txBody>
      </p:sp>
      <p:sp>
        <p:nvSpPr>
          <p:cNvPr id="40" name="Text 34"/>
          <p:cNvSpPr/>
          <p:nvPr/>
        </p:nvSpPr>
        <p:spPr>
          <a:xfrm>
            <a:off x="8716789" y="9167813"/>
            <a:ext cx="60610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 final</a:t>
            </a:r>
            <a:endParaRPr lang="en-US" sz="675" dirty="0"/>
          </a:p>
        </p:txBody>
      </p:sp>
      <p:sp>
        <p:nvSpPr>
          <p:cNvPr id="41" name="Shape 35"/>
          <p:cNvSpPr/>
          <p:nvPr/>
        </p:nvSpPr>
        <p:spPr>
          <a:xfrm>
            <a:off x="10643146" y="2343150"/>
            <a:ext cx="6311354" cy="1212503"/>
          </a:xfrm>
          <a:prstGeom prst="roundRect">
            <a:avLst>
              <a:gd name="adj" fmla="val 12569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10881271" y="2562225"/>
            <a:ext cx="64186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QR berbeda, 4 timestamp</a:t>
            </a:r>
            <a:endParaRPr lang="en-US" sz="1425" dirty="0"/>
          </a:p>
        </p:txBody>
      </p:sp>
      <p:sp>
        <p:nvSpPr>
          <p:cNvPr id="43" name="Text 37"/>
          <p:cNvSpPr/>
          <p:nvPr/>
        </p:nvSpPr>
        <p:spPr>
          <a:xfrm>
            <a:off x="10881271" y="2867025"/>
            <a:ext cx="6010157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45"/>
              </a:lnSpc>
              <a:buNone/>
            </a:pPr>
            <a:r>
              <a:rPr lang="en-US" sz="1275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Tiap jenjang persetujuan meninggalkan jejak sendiri — jelas siapa approve kapan, termasuk Direktur di jenjang akhir.</a:t>
            </a:r>
            <a:endParaRPr lang="en-US" sz="1275" dirty="0"/>
          </a:p>
        </p:txBody>
      </p:sp>
      <p:sp>
        <p:nvSpPr>
          <p:cNvPr id="44" name="Shape 38"/>
          <p:cNvSpPr/>
          <p:nvPr/>
        </p:nvSpPr>
        <p:spPr>
          <a:xfrm>
            <a:off x="10643146" y="3689003"/>
            <a:ext cx="6311354" cy="1145828"/>
          </a:xfrm>
          <a:prstGeom prst="roundRect">
            <a:avLst>
              <a:gd name="adj" fmla="val 13300"/>
            </a:avLst>
          </a:prstGeom>
          <a:ln w="9525">
            <a:solidFill>
              <a:srgbClr val="F5F6F8">
                <a:alpha val="1200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10881271" y="3908078"/>
            <a:ext cx="64186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F8A0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KODE BARU AKTIF SEKARANG</a:t>
            </a:r>
            <a:endParaRPr lang="en-US" sz="975" dirty="0"/>
          </a:p>
        </p:txBody>
      </p:sp>
      <p:sp>
        <p:nvSpPr>
          <p:cNvPr id="46" name="Text 40"/>
          <p:cNvSpPr/>
          <p:nvPr/>
        </p:nvSpPr>
        <p:spPr>
          <a:xfrm>
            <a:off x="10881271" y="4146203"/>
            <a:ext cx="6010157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45"/>
              </a:lnSpc>
              <a:buNone/>
            </a:pPr>
            <a:r>
              <a:rPr lang="en-US" sz="1275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Sebelum Direktur tanda tangan, kartu kode menampilkan “belum terbit”. Begitu lengkap, kode </a:t>
            </a:r>
            <a:pPr algn="l" indent="0" marL="0">
              <a:lnSpc>
                <a:spcPct val="112045"/>
              </a:lnSpc>
              <a:buNone/>
            </a:pPr>
            <a:r>
              <a:rPr lang="en-US" sz="1275" dirty="0">
                <a:solidFill>
                  <a:srgbClr val="F5F6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FIN-9152-BS </a:t>
            </a:r>
            <a:pPr algn="l" indent="0" marL="0">
              <a:lnSpc>
                <a:spcPct val="112045"/>
              </a:lnSpc>
              <a:buNone/>
            </a:pPr>
            <a:r>
              <a:rPr lang="en-US" sz="1275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otomatis aktif.</a:t>
            </a:r>
            <a:endParaRPr lang="en-US" sz="1275" dirty="0"/>
          </a:p>
        </p:txBody>
      </p:sp>
      <p:sp>
        <p:nvSpPr>
          <p:cNvPr id="47" name="Shape 41"/>
          <p:cNvSpPr/>
          <p:nvPr/>
        </p:nvSpPr>
        <p:spPr>
          <a:xfrm>
            <a:off x="10643146" y="4968180"/>
            <a:ext cx="6311354" cy="952500"/>
          </a:xfrm>
          <a:prstGeom prst="roundRect">
            <a:avLst>
              <a:gd name="adj" fmla="val 16000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10881271" y="5187255"/>
            <a:ext cx="64186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Kode dokumen</a:t>
            </a:r>
            <a:endParaRPr lang="en-US" sz="1425" dirty="0"/>
          </a:p>
        </p:txBody>
      </p:sp>
      <p:sp>
        <p:nvSpPr>
          <p:cNvPr id="49" name="Text 43"/>
          <p:cNvSpPr/>
          <p:nvPr/>
        </p:nvSpPr>
        <p:spPr>
          <a:xfrm>
            <a:off x="10881271" y="5492055"/>
            <a:ext cx="64186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5F6F8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FIN-9152-BS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538984"/>
            <a:ext cx="75925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 UI · 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28750" y="3862834"/>
            <a:ext cx="1466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B6A7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PURCHASING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28750" y="4243834"/>
            <a:ext cx="7592504" cy="54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61"/>
              </a:lnSpc>
              <a:buNone/>
            </a:pPr>
            <a:r>
              <a:rPr lang="en-US" sz="34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Pengadaan Barang ke Vendor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428750" y="4938192"/>
            <a:ext cx="51015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Tanda tangan internal dulu, baru didistribusikan ke vendor eksternal — tanpa vendor perlu akun.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28750" y="5890692"/>
            <a:ext cx="6902276" cy="857250"/>
          </a:xfrm>
          <a:prstGeom prst="roundRect">
            <a:avLst>
              <a:gd name="adj" fmla="val 15556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7825" y="6071667"/>
            <a:ext cx="66711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Beda dari 2 konsep lain: ada blok “Kirim PO ke vendor” via WhatsApp setelah tanda tangan internal lengkap.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02526" y="2764631"/>
            <a:ext cx="7956724" cy="4757738"/>
          </a:xfrm>
          <a:prstGeom prst="roundRect">
            <a:avLst>
              <a:gd name="adj" fmla="val 4404"/>
            </a:avLst>
          </a:prstGeom>
          <a:gradFill rotWithShape="1">
            <a:gsLst>
              <a:gs pos="0">
                <a:srgbClr val="F5F6F8">
                  <a:alpha val="6000"/>
                </a:srgbClr>
              </a:gs>
              <a:gs pos="100000">
                <a:srgbClr val="F5F6F8">
                  <a:alpha val="2000"/>
                </a:srgbClr>
              </a:gs>
            </a:gsLst>
            <a:lin ang="4500000" scaled="0"/>
          </a:gradFill>
          <a:ln w="9525">
            <a:solidFill>
              <a:srgbClr val="F5F6F8">
                <a:alpha val="14000"/>
              </a:srgbClr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12051" y="3502819"/>
            <a:ext cx="7937674" cy="9525"/>
          </a:xfrm>
          <a:prstGeom prst="rect">
            <a:avLst/>
          </a:prstGeom>
          <a:solidFill>
            <a:srgbClr val="F5F6F8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97801" y="3038475"/>
            <a:ext cx="23134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PO_CV_Sumber_Makmur.pdf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680010" y="2983706"/>
            <a:ext cx="883965" cy="309563"/>
          </a:xfrm>
          <a:prstGeom prst="roundRect">
            <a:avLst>
              <a:gd name="adj" fmla="val 50000"/>
            </a:avLst>
          </a:prstGeom>
          <a:solidFill>
            <a:srgbClr val="4EB769">
              <a:alpha val="18000"/>
            </a:srgbClr>
          </a:solidFill>
          <a:ln w="9525">
            <a:solidFill>
              <a:srgbClr val="4BB96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841935" y="3050381"/>
            <a:ext cx="6363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Selesai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216851" y="3817144"/>
            <a:ext cx="25751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4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16851" y="4031456"/>
            <a:ext cx="257517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 Sumber Makmur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710318" y="3817144"/>
            <a:ext cx="25751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4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710318" y="4031456"/>
            <a:ext cx="257517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Laptop kerja x10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203784" y="3817144"/>
            <a:ext cx="257525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6F8">
                    <a:alpha val="4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Nominal PO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203784" y="4031456"/>
            <a:ext cx="25752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Rp 100.000.000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216851" y="4445794"/>
            <a:ext cx="7328074" cy="452438"/>
          </a:xfrm>
          <a:prstGeom prst="roundRect">
            <a:avLst>
              <a:gd name="adj" fmla="val 23158"/>
            </a:avLst>
          </a:prstGeom>
          <a:solidFill>
            <a:srgbClr val="00893B">
              <a:alpha val="10000"/>
            </a:srgbClr>
          </a:solidFill>
          <a:ln w="9525">
            <a:solidFill>
              <a:srgbClr val="149849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8776" y="4579144"/>
            <a:ext cx="23066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Tono Setiawan · </a:t>
            </a:r>
            <a:pPr algn="l" indent="0" marL="0">
              <a:buNone/>
            </a:pPr>
            <a:r>
              <a:rPr lang="en-US" sz="112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Staff Purchasing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5714018" y="4591050"/>
            <a:ext cx="7451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Selesai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9216851" y="4983956"/>
            <a:ext cx="7328074" cy="452438"/>
          </a:xfrm>
          <a:prstGeom prst="roundRect">
            <a:avLst>
              <a:gd name="adj" fmla="val 23158"/>
            </a:avLst>
          </a:prstGeom>
          <a:solidFill>
            <a:srgbClr val="00893B">
              <a:alpha val="10000"/>
            </a:srgbClr>
          </a:solidFill>
          <a:ln w="9525">
            <a:solidFill>
              <a:srgbClr val="149849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8776" y="5117306"/>
            <a:ext cx="246294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Maya Kartika · </a:t>
            </a:r>
            <a:pPr algn="l" indent="0" marL="0">
              <a:buNone/>
            </a:pPr>
            <a:r>
              <a:rPr lang="en-US" sz="112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Manager Purchasing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5714018" y="5129213"/>
            <a:ext cx="7451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Selesai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9216851" y="5664994"/>
            <a:ext cx="7328074" cy="1543050"/>
          </a:xfrm>
          <a:prstGeom prst="roundRect">
            <a:avLst>
              <a:gd name="adj" fmla="val 8642"/>
            </a:avLst>
          </a:prstGeom>
          <a:ln w="9525">
            <a:solidFill>
              <a:srgbClr val="F5F6F8">
                <a:alpha val="14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6876" y="5865019"/>
            <a:ext cx="762082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TANDA TANGAN INTERNAL LENGKAP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16876" y="6246019"/>
            <a:ext cx="23478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F6F8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Kirim PO ke vendor via WhatsApp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5143411" y="6250781"/>
            <a:ext cx="104908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D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Kirim ke vendor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16876" y="6636544"/>
            <a:ext cx="6928024" cy="9525"/>
          </a:xfrm>
          <a:prstGeom prst="rect">
            <a:avLst/>
          </a:prstGeom>
          <a:solidFill>
            <a:srgbClr val="F5F6F8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416876" y="670321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F6F8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378776" y="6703219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16926" y="6774656"/>
            <a:ext cx="30785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Kode: PO-4821-CS · vendor scan tanpa perlu akun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79624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 UI · 03 — Hasil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33500" y="1085850"/>
            <a:ext cx="1466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B6A7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PURCHASING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33500" y="1466850"/>
            <a:ext cx="7962409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58"/>
              </a:lnSpc>
              <a:buNone/>
            </a:pPr>
            <a:r>
              <a:rPr lang="en-US" sz="33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 Internal Lengkap, Siap ke Vendor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4725650" y="762000"/>
            <a:ext cx="2228850" cy="409575"/>
          </a:xfrm>
          <a:prstGeom prst="roundRect">
            <a:avLst>
              <a:gd name="adj" fmla="val 50000"/>
            </a:avLst>
          </a:prstGeom>
          <a:solidFill>
            <a:srgbClr val="4EB769">
              <a:alpha val="18000"/>
            </a:srgbClr>
          </a:solidFill>
          <a:ln w="9525">
            <a:solidFill>
              <a:srgbClr val="4BB96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25675" y="866775"/>
            <a:ext cx="1905000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D0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Selesai · kode aktif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082105"/>
            <a:ext cx="1275397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Staff &amp; Manager Purchasing sudah tanda tangan, tiap orang dengan QR unik miliknya — dokumen ini yang dikirim ke vendor via WhatsApp.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333500" y="2853630"/>
            <a:ext cx="9087669" cy="6671370"/>
          </a:xfrm>
          <a:prstGeom prst="roundRect">
            <a:avLst>
              <a:gd name="adj" fmla="val 1999"/>
            </a:avLst>
          </a:prstGeom>
          <a:solidFill>
            <a:srgbClr val="F2F1EE"/>
          </a:solidFill>
          <a:ln/>
          <a:effectLst>
            <a:outerShdw sx="100000" sy="100000" kx="0" ky="0" algn="bl" rotWithShape="0" blurRad="762000" dist="285750" dir="54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23947" y="3272730"/>
            <a:ext cx="89067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33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PURCHASE ORDER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23947" y="3577530"/>
            <a:ext cx="89067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No. PO/2026/4821 — PT PSG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0" y="4410968"/>
            <a:ext cx="8097069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3944243"/>
            <a:ext cx="28710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4096643"/>
            <a:ext cx="28710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 Sumber Makmur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572223" y="3944243"/>
            <a:ext cx="28711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223" y="4096643"/>
            <a:ext cx="287116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Laptop kerja x10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315721" y="3944243"/>
            <a:ext cx="28711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Nominal PO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721" y="4096643"/>
            <a:ext cx="287116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Rp 100.000.000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828800" y="4591943"/>
            <a:ext cx="8339981" cy="49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71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Barang dikirim ke Kantor Pusat PT PSG selambat-lambatnya 14 hari kerja setelah PO diterima. Pembayaran dilakukan 30 hari setelah barang diterima &amp; diverifikasi sesuai spesifikasi pada lampiran.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828800" y="7315200"/>
            <a:ext cx="8097069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445594" y="7515225"/>
            <a:ext cx="7768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Disetujui oleh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43436" y="7743825"/>
            <a:ext cx="7048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10111" y="7810500"/>
            <a:ext cx="571500" cy="5715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3327127" y="8524875"/>
            <a:ext cx="1013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Tono Setiawan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2182" y="8772525"/>
            <a:ext cx="84363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Staff Purchasing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3110061" y="8986838"/>
            <a:ext cx="15087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PO-4821-TS · 10 Jul 2026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608391" y="7515225"/>
            <a:ext cx="7768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Disetujui oleh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606308" y="7743825"/>
            <a:ext cx="7048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2983" y="7810500"/>
            <a:ext cx="571500" cy="5715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537177" y="8524875"/>
            <a:ext cx="9192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Maya Kartika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482185" y="8772525"/>
            <a:ext cx="102929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Manager Purchasing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7272933" y="8986838"/>
            <a:ext cx="15087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PO-4821-MK · 10 Jul 2026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10725969" y="2853630"/>
            <a:ext cx="6228531" cy="1328738"/>
          </a:xfrm>
          <a:prstGeom prst="roundRect">
            <a:avLst>
              <a:gd name="adj" fmla="val 11470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983144" y="3091755"/>
            <a:ext cx="62856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QR internal, beda pola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10983144" y="3429893"/>
            <a:ext cx="588560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1350" dirty="0">
                <a:solidFill>
                  <a:srgbClr val="F5F6F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Staff dan Manager masing-masing punya QR sendiri — menandakan approval berlapis sebelum PO keluar ke pihak luar.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10725969" y="4334768"/>
            <a:ext cx="6228531" cy="1262063"/>
          </a:xfrm>
          <a:prstGeom prst="roundRect">
            <a:avLst>
              <a:gd name="adj" fmla="val 12075"/>
            </a:avLst>
          </a:prstGeom>
          <a:ln w="9525">
            <a:solidFill>
              <a:srgbClr val="F5F6F8">
                <a:alpha val="12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0983144" y="4572893"/>
            <a:ext cx="62856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B6A7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LANGKAH BERIKUTNYA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10983144" y="4844355"/>
            <a:ext cx="588560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1350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Dokumen ini dikirim ke vendor via WhatsApp. Vendor scan kode </a:t>
            </a:r>
            <a:pPr algn="l" indent="0" marL="0">
              <a:lnSpc>
                <a:spcPct val="114894"/>
              </a:lnSpc>
              <a:buNone/>
            </a:pPr>
            <a:r>
              <a:rPr lang="en-US" sz="1350" dirty="0">
                <a:solidFill>
                  <a:srgbClr val="F5F6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PO-4821-CS </a:t>
            </a:r>
            <a:pPr algn="l" indent="0" marL="0">
              <a:lnSpc>
                <a:spcPct val="114894"/>
              </a:lnSpc>
              <a:buNone/>
            </a:pPr>
            <a:r>
              <a:rPr lang="en-US" sz="1350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untuk lihat detail order — tanpa perlu akun.</a:t>
            </a:r>
            <a:endParaRPr lang="en-US" sz="1350" dirty="0"/>
          </a:p>
        </p:txBody>
      </p:sp>
      <p:sp>
        <p:nvSpPr>
          <p:cNvPr id="38" name="Shape 34"/>
          <p:cNvSpPr/>
          <p:nvPr/>
        </p:nvSpPr>
        <p:spPr>
          <a:xfrm>
            <a:off x="10725969" y="5749230"/>
            <a:ext cx="6228531" cy="1038225"/>
          </a:xfrm>
          <a:prstGeom prst="roundRect">
            <a:avLst>
              <a:gd name="adj" fmla="val 14679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0983144" y="5987355"/>
            <a:ext cx="62856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Kode dokumen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10983144" y="6325493"/>
            <a:ext cx="628560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6F8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PO-4821-CS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952500"/>
            <a:ext cx="169735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FE86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LANGKAH 7–8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1376363"/>
            <a:ext cx="169735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Verifikasi Internal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428750" y="2452688"/>
            <a:ext cx="7591425" cy="1733550"/>
          </a:xfrm>
          <a:prstGeom prst="roundRect">
            <a:avLst>
              <a:gd name="adj" fmla="val 10989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81175" y="2805113"/>
            <a:ext cx="75752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93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81175" y="3214688"/>
            <a:ext cx="75752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Staf scan QR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81175" y="3586163"/>
            <a:ext cx="75752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data asli dari server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67825" y="2452688"/>
            <a:ext cx="7591425" cy="1733550"/>
          </a:xfrm>
          <a:prstGeom prst="roundRect">
            <a:avLst>
              <a:gd name="adj" fmla="val 10989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20250" y="2805113"/>
            <a:ext cx="75752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93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620250" y="3214688"/>
            <a:ext cx="75752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Bandingkan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20250" y="3586163"/>
            <a:ext cx="75752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 dokumen fisik/PDF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428750" y="4529138"/>
            <a:ext cx="15430500" cy="4805363"/>
          </a:xfrm>
          <a:prstGeom prst="roundRect">
            <a:avLst>
              <a:gd name="adj" fmla="val 3964"/>
            </a:avLst>
          </a:prstGeom>
          <a:ln w="9525">
            <a:solidFill>
              <a:srgbClr val="D74938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57375" y="5926931"/>
            <a:ext cx="16030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FF83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CONTOH KASUS — MENDETEKSI MANIPULASI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57375" y="6403181"/>
            <a:ext cx="752309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di server (asli)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57375" y="6684169"/>
            <a:ext cx="752309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FD08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Rp 10.000.000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57375" y="7227094"/>
            <a:ext cx="75230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Pembelian laptop — tersimpan sejak approval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9039448" y="6672263"/>
            <a:ext cx="28530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83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≠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91452" y="6403181"/>
            <a:ext cx="752309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Dokumen fisik diterima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591452" y="6684169"/>
            <a:ext cx="752309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Rp 100.000.000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591452" y="7227094"/>
            <a:ext cx="75230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5F6F8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Angka pada kertas fisik sudah diubah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857375" y="7665244"/>
            <a:ext cx="1603057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6F8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Selisih terdeteksi — dokumen fisik ditandai tidak sesuai dengan record asli.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952500"/>
            <a:ext cx="169735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AD9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LANGKAH 9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1376363"/>
            <a:ext cx="169735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Verifikasi Eksternal ke Vendor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428750" y="2528888"/>
            <a:ext cx="4978375" cy="5605463"/>
          </a:xfrm>
          <a:prstGeom prst="roundRect">
            <a:avLst>
              <a:gd name="adj" fmla="val 3827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19275" y="2919413"/>
            <a:ext cx="461705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6A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19275" y="3390900"/>
            <a:ext cx="461705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Dokumen dikirim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19275" y="3862387"/>
            <a:ext cx="461705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via WhatsApp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654775" y="2528888"/>
            <a:ext cx="4978450" cy="5605463"/>
          </a:xfrm>
          <a:prstGeom prst="roundRect">
            <a:avLst>
              <a:gd name="adj" fmla="val 3826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5300" y="2919413"/>
            <a:ext cx="46171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6A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045300" y="3390900"/>
            <a:ext cx="46171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Vendor scan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045300" y="3862387"/>
            <a:ext cx="46171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6F8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QR/kode unik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880875" y="2528888"/>
            <a:ext cx="4978375" cy="5605463"/>
          </a:xfrm>
          <a:prstGeom prst="roundRect">
            <a:avLst>
              <a:gd name="adj" fmla="val 3827"/>
            </a:avLst>
          </a:prstGeom>
          <a:ln w="9525">
            <a:solidFill>
              <a:srgbClr val="F5F6F8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71400" y="2919413"/>
            <a:ext cx="461705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DAD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271400" y="3390900"/>
            <a:ext cx="461705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Vendor lihat detail order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428750" y="8362950"/>
            <a:ext cx="15430500" cy="971550"/>
          </a:xfrm>
          <a:prstGeom prst="roundRect">
            <a:avLst>
              <a:gd name="adj" fmla="val 17647"/>
            </a:avLst>
          </a:prstGeom>
          <a:solidFill>
            <a:srgbClr val="F5F6F8">
              <a:alpha val="4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1175" y="8677275"/>
            <a:ext cx="151885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F5F6F8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tidak perlu punya akun di sistem PT PSG — cukup memindai kode yang dikirim untuk melihat detail order yang sah sebelum diproses.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2527995"/>
            <a:ext cx="169735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F5F6F8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RINGKASAN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2951857"/>
            <a:ext cx="157162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900" b="1" dirty="0">
                <a:solidFill>
                  <a:srgbClr val="F5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Tidak tersertifikasi, tapi cukup untuk internal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428750" y="4041502"/>
            <a:ext cx="7581900" cy="2936379"/>
          </a:xfrm>
          <a:prstGeom prst="roundRect">
            <a:avLst>
              <a:gd name="adj" fmla="val 6488"/>
            </a:avLst>
          </a:prstGeom>
          <a:ln w="9525">
            <a:solidFill>
              <a:srgbClr val="F5F6F8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57375" y="4470127"/>
            <a:ext cx="739711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FD08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Kelebihan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57375" y="4979715"/>
            <a:ext cx="739711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Murah &amp; cepat dibangun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857375" y="5400675"/>
            <a:ext cx="739711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Tidak perlu kerja sama PSrE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857375" y="5821635"/>
            <a:ext cx="739711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Kontrol penuh di tangan PT PSG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857375" y="6242596"/>
            <a:ext cx="739711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Cocok untuk approval internal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9277350" y="4041502"/>
            <a:ext cx="7581900" cy="2936379"/>
          </a:xfrm>
          <a:prstGeom prst="roundRect">
            <a:avLst>
              <a:gd name="adj" fmla="val 6488"/>
            </a:avLst>
          </a:prstGeom>
          <a:solidFill>
            <a:srgbClr val="F5F6F8">
              <a:alpha val="5000"/>
            </a:srgbClr>
          </a:solidFill>
          <a:ln w="9525">
            <a:solidFill>
              <a:srgbClr val="F5F6F8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05975" y="4470127"/>
            <a:ext cx="739711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Kekurangan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705975" y="4979715"/>
            <a:ext cx="739711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Kekuatan hukum lebih lemah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9705975" y="5400675"/>
            <a:ext cx="739711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Tidak otomatis dipercaya pihak luar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9705975" y="5821635"/>
            <a:ext cx="739711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dirty="0">
                <a:solidFill>
                  <a:srgbClr val="F5F6F8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Server jadi satu-satunya titik kepercayaan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428750" y="7320781"/>
            <a:ext cx="16973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6F8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PT PSG — Internal Document Verification, didukung e-sign.ai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2026-07-14T10:48:10Z</dcterms:created>
  <dcterms:modified xsi:type="dcterms:W3CDTF">2026-07-14T10:48:10Z</dcterms:modified>
</cp:coreProperties>
</file>